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nter" panose="020B0502030000000004" pitchFamily="34" charset="0"/>
      <p:regular r:id="rId12"/>
    </p:embeddedFont>
    <p:embeddedFont>
      <p:font typeface="Neue Montreal" pitchFamily="2" charset="0"/>
      <p:regular r:id="rId13"/>
    </p:embeddedFont>
    <p:embeddedFont>
      <p:font typeface="Neue Montreal Bold" pitchFamily="2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45" autoAdjust="0"/>
  </p:normalViewPr>
  <p:slideViewPr>
    <p:cSldViewPr>
      <p:cViewPr>
        <p:scale>
          <a:sx n="37" d="100"/>
          <a:sy n="37" d="100"/>
        </p:scale>
        <p:origin x="2784" y="1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19681">
            <a:off x="5110297" y="2309422"/>
            <a:ext cx="18571789" cy="9525780"/>
          </a:xfrm>
          <a:custGeom>
            <a:avLst/>
            <a:gdLst/>
            <a:ahLst/>
            <a:cxnLst/>
            <a:rect l="l" t="t" r="r" b="b"/>
            <a:pathLst>
              <a:path w="18571789" h="9525780">
                <a:moveTo>
                  <a:pt x="0" y="0"/>
                </a:moveTo>
                <a:lnTo>
                  <a:pt x="18571789" y="0"/>
                </a:lnTo>
                <a:lnTo>
                  <a:pt x="18571789" y="9525781"/>
                </a:lnTo>
                <a:lnTo>
                  <a:pt x="0" y="9525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 rot="-207148">
            <a:off x="-4091681" y="-4762890"/>
            <a:ext cx="18571789" cy="9525780"/>
          </a:xfrm>
          <a:custGeom>
            <a:avLst/>
            <a:gdLst/>
            <a:ahLst/>
            <a:cxnLst/>
            <a:rect l="l" t="t" r="r" b="b"/>
            <a:pathLst>
              <a:path w="18571789" h="9525780">
                <a:moveTo>
                  <a:pt x="0" y="0"/>
                </a:moveTo>
                <a:lnTo>
                  <a:pt x="18571789" y="0"/>
                </a:lnTo>
                <a:lnTo>
                  <a:pt x="18571789" y="9525780"/>
                </a:lnTo>
                <a:lnTo>
                  <a:pt x="0" y="952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grpSp>
        <p:nvGrpSpPr>
          <p:cNvPr id="4" name="Group 4"/>
          <p:cNvGrpSpPr/>
          <p:nvPr/>
        </p:nvGrpSpPr>
        <p:grpSpPr>
          <a:xfrm>
            <a:off x="13979830" y="1072430"/>
            <a:ext cx="3279470" cy="784945"/>
            <a:chOff x="0" y="0"/>
            <a:chExt cx="863729" cy="206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3729" cy="206735"/>
            </a:xfrm>
            <a:custGeom>
              <a:avLst/>
              <a:gdLst/>
              <a:ahLst/>
              <a:cxnLst/>
              <a:rect l="l" t="t" r="r" b="b"/>
              <a:pathLst>
                <a:path w="863729" h="206735">
                  <a:moveTo>
                    <a:pt x="103367" y="0"/>
                  </a:moveTo>
                  <a:lnTo>
                    <a:pt x="760362" y="0"/>
                  </a:lnTo>
                  <a:cubicBezTo>
                    <a:pt x="787776" y="0"/>
                    <a:pt x="814068" y="10890"/>
                    <a:pt x="833453" y="30276"/>
                  </a:cubicBezTo>
                  <a:cubicBezTo>
                    <a:pt x="852838" y="49661"/>
                    <a:pt x="863729" y="75953"/>
                    <a:pt x="863729" y="103367"/>
                  </a:cubicBezTo>
                  <a:lnTo>
                    <a:pt x="863729" y="103367"/>
                  </a:lnTo>
                  <a:cubicBezTo>
                    <a:pt x="863729" y="130782"/>
                    <a:pt x="852838" y="157074"/>
                    <a:pt x="833453" y="176459"/>
                  </a:cubicBezTo>
                  <a:cubicBezTo>
                    <a:pt x="814068" y="195844"/>
                    <a:pt x="787776" y="206735"/>
                    <a:pt x="760362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63729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275761" y="1344472"/>
            <a:ext cx="240861" cy="2408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TextBox 11"/>
          <p:cNvSpPr txBox="1"/>
          <p:nvPr/>
        </p:nvSpPr>
        <p:spPr>
          <a:xfrm>
            <a:off x="1028700" y="2141563"/>
            <a:ext cx="13465342" cy="6526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595"/>
              </a:lnSpc>
            </a:pPr>
            <a:r>
              <a:rPr lang="en-US" sz="18996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Pitch</a:t>
            </a:r>
          </a:p>
          <a:p>
            <a:pPr algn="l">
              <a:lnSpc>
                <a:spcPts val="26595"/>
              </a:lnSpc>
            </a:pPr>
            <a:r>
              <a:rPr lang="en-US" sz="18996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76362" y="1258210"/>
            <a:ext cx="225431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Presentation 2025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647213">
            <a:off x="4466835" y="-994875"/>
            <a:ext cx="20219053" cy="10370689"/>
          </a:xfrm>
          <a:custGeom>
            <a:avLst/>
            <a:gdLst/>
            <a:ahLst/>
            <a:cxnLst/>
            <a:rect l="l" t="t" r="r" b="b"/>
            <a:pathLst>
              <a:path w="20219053" h="10370689">
                <a:moveTo>
                  <a:pt x="0" y="0"/>
                </a:moveTo>
                <a:lnTo>
                  <a:pt x="20219054" y="0"/>
                </a:lnTo>
                <a:lnTo>
                  <a:pt x="20219054" y="10370690"/>
                </a:lnTo>
                <a:lnTo>
                  <a:pt x="0" y="103706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grpSp>
        <p:nvGrpSpPr>
          <p:cNvPr id="3" name="Group 3"/>
          <p:cNvGrpSpPr/>
          <p:nvPr/>
        </p:nvGrpSpPr>
        <p:grpSpPr>
          <a:xfrm>
            <a:off x="1028700" y="6362700"/>
            <a:ext cx="2951738" cy="784945"/>
            <a:chOff x="0" y="0"/>
            <a:chExt cx="777412" cy="2067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412" cy="206735"/>
            </a:xfrm>
            <a:custGeom>
              <a:avLst/>
              <a:gdLst/>
              <a:ahLst/>
              <a:cxnLst/>
              <a:rect l="l" t="t" r="r" b="b"/>
              <a:pathLst>
                <a:path w="777412" h="206735">
                  <a:moveTo>
                    <a:pt x="103367" y="0"/>
                  </a:moveTo>
                  <a:lnTo>
                    <a:pt x="674045" y="0"/>
                  </a:lnTo>
                  <a:cubicBezTo>
                    <a:pt x="701460" y="0"/>
                    <a:pt x="727752" y="10890"/>
                    <a:pt x="747137" y="30276"/>
                  </a:cubicBezTo>
                  <a:cubicBezTo>
                    <a:pt x="766522" y="49661"/>
                    <a:pt x="777412" y="75953"/>
                    <a:pt x="777412" y="103367"/>
                  </a:cubicBezTo>
                  <a:lnTo>
                    <a:pt x="777412" y="103367"/>
                  </a:lnTo>
                  <a:cubicBezTo>
                    <a:pt x="777412" y="130782"/>
                    <a:pt x="766522" y="157074"/>
                    <a:pt x="747137" y="176459"/>
                  </a:cubicBezTo>
                  <a:cubicBezTo>
                    <a:pt x="727752" y="195844"/>
                    <a:pt x="701460" y="206735"/>
                    <a:pt x="674045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77412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7415533"/>
            <a:ext cx="2951738" cy="784945"/>
            <a:chOff x="0" y="0"/>
            <a:chExt cx="777412" cy="2067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7412" cy="206735"/>
            </a:xfrm>
            <a:custGeom>
              <a:avLst/>
              <a:gdLst/>
              <a:ahLst/>
              <a:cxnLst/>
              <a:rect l="l" t="t" r="r" b="b"/>
              <a:pathLst>
                <a:path w="777412" h="206735">
                  <a:moveTo>
                    <a:pt x="103367" y="0"/>
                  </a:moveTo>
                  <a:lnTo>
                    <a:pt x="674045" y="0"/>
                  </a:lnTo>
                  <a:cubicBezTo>
                    <a:pt x="701460" y="0"/>
                    <a:pt x="727752" y="10890"/>
                    <a:pt x="747137" y="30276"/>
                  </a:cubicBezTo>
                  <a:cubicBezTo>
                    <a:pt x="766522" y="49661"/>
                    <a:pt x="777412" y="75953"/>
                    <a:pt x="777412" y="103367"/>
                  </a:cubicBezTo>
                  <a:lnTo>
                    <a:pt x="777412" y="103367"/>
                  </a:lnTo>
                  <a:cubicBezTo>
                    <a:pt x="777412" y="130782"/>
                    <a:pt x="766522" y="157074"/>
                    <a:pt x="747137" y="176459"/>
                  </a:cubicBezTo>
                  <a:cubicBezTo>
                    <a:pt x="727752" y="195844"/>
                    <a:pt x="701460" y="206735"/>
                    <a:pt x="674045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77412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247138" y="7415533"/>
            <a:ext cx="3072169" cy="784945"/>
            <a:chOff x="0" y="0"/>
            <a:chExt cx="809131" cy="2067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09131" cy="206735"/>
            </a:xfrm>
            <a:custGeom>
              <a:avLst/>
              <a:gdLst/>
              <a:ahLst/>
              <a:cxnLst/>
              <a:rect l="l" t="t" r="r" b="b"/>
              <a:pathLst>
                <a:path w="809131" h="206735">
                  <a:moveTo>
                    <a:pt x="103367" y="0"/>
                  </a:moveTo>
                  <a:lnTo>
                    <a:pt x="705764" y="0"/>
                  </a:lnTo>
                  <a:cubicBezTo>
                    <a:pt x="733178" y="0"/>
                    <a:pt x="759470" y="10890"/>
                    <a:pt x="778855" y="30276"/>
                  </a:cubicBezTo>
                  <a:cubicBezTo>
                    <a:pt x="798240" y="49661"/>
                    <a:pt x="809131" y="75953"/>
                    <a:pt x="809131" y="103367"/>
                  </a:cubicBezTo>
                  <a:lnTo>
                    <a:pt x="809131" y="103367"/>
                  </a:lnTo>
                  <a:cubicBezTo>
                    <a:pt x="809131" y="130782"/>
                    <a:pt x="798240" y="157074"/>
                    <a:pt x="778855" y="176459"/>
                  </a:cubicBezTo>
                  <a:cubicBezTo>
                    <a:pt x="759470" y="195844"/>
                    <a:pt x="733178" y="206735"/>
                    <a:pt x="705764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09131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86006" y="7415533"/>
            <a:ext cx="2623157" cy="784945"/>
            <a:chOff x="0" y="0"/>
            <a:chExt cx="690873" cy="2067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90873" cy="206735"/>
            </a:xfrm>
            <a:custGeom>
              <a:avLst/>
              <a:gdLst/>
              <a:ahLst/>
              <a:cxnLst/>
              <a:rect l="l" t="t" r="r" b="b"/>
              <a:pathLst>
                <a:path w="690873" h="206735">
                  <a:moveTo>
                    <a:pt x="103367" y="0"/>
                  </a:moveTo>
                  <a:lnTo>
                    <a:pt x="587505" y="0"/>
                  </a:lnTo>
                  <a:cubicBezTo>
                    <a:pt x="614920" y="0"/>
                    <a:pt x="641212" y="10890"/>
                    <a:pt x="660597" y="30276"/>
                  </a:cubicBezTo>
                  <a:cubicBezTo>
                    <a:pt x="679982" y="49661"/>
                    <a:pt x="690873" y="75953"/>
                    <a:pt x="690873" y="103367"/>
                  </a:cubicBezTo>
                  <a:lnTo>
                    <a:pt x="690873" y="103367"/>
                  </a:lnTo>
                  <a:cubicBezTo>
                    <a:pt x="690873" y="130782"/>
                    <a:pt x="679982" y="157074"/>
                    <a:pt x="660597" y="176459"/>
                  </a:cubicBezTo>
                  <a:cubicBezTo>
                    <a:pt x="641212" y="195844"/>
                    <a:pt x="614920" y="206735"/>
                    <a:pt x="587505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90873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247138" y="6362700"/>
            <a:ext cx="2150297" cy="784945"/>
            <a:chOff x="0" y="0"/>
            <a:chExt cx="566333" cy="2067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66333" cy="206735"/>
            </a:xfrm>
            <a:custGeom>
              <a:avLst/>
              <a:gdLst/>
              <a:ahLst/>
              <a:cxnLst/>
              <a:rect l="l" t="t" r="r" b="b"/>
              <a:pathLst>
                <a:path w="566333" h="206735">
                  <a:moveTo>
                    <a:pt x="103367" y="0"/>
                  </a:moveTo>
                  <a:lnTo>
                    <a:pt x="462966" y="0"/>
                  </a:lnTo>
                  <a:cubicBezTo>
                    <a:pt x="490381" y="0"/>
                    <a:pt x="516673" y="10890"/>
                    <a:pt x="536058" y="30276"/>
                  </a:cubicBezTo>
                  <a:cubicBezTo>
                    <a:pt x="555443" y="49661"/>
                    <a:pt x="566333" y="75953"/>
                    <a:pt x="566333" y="103367"/>
                  </a:cubicBezTo>
                  <a:lnTo>
                    <a:pt x="566333" y="103367"/>
                  </a:lnTo>
                  <a:cubicBezTo>
                    <a:pt x="566333" y="130782"/>
                    <a:pt x="555443" y="157074"/>
                    <a:pt x="536058" y="176459"/>
                  </a:cubicBezTo>
                  <a:cubicBezTo>
                    <a:pt x="516673" y="195844"/>
                    <a:pt x="490381" y="206735"/>
                    <a:pt x="462966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66333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4135" y="6362700"/>
            <a:ext cx="3369032" cy="784945"/>
            <a:chOff x="0" y="0"/>
            <a:chExt cx="887317" cy="2067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87317" cy="206735"/>
            </a:xfrm>
            <a:custGeom>
              <a:avLst/>
              <a:gdLst/>
              <a:ahLst/>
              <a:cxnLst/>
              <a:rect l="l" t="t" r="r" b="b"/>
              <a:pathLst>
                <a:path w="887317" h="206735">
                  <a:moveTo>
                    <a:pt x="103367" y="0"/>
                  </a:moveTo>
                  <a:lnTo>
                    <a:pt x="783950" y="0"/>
                  </a:lnTo>
                  <a:cubicBezTo>
                    <a:pt x="811364" y="0"/>
                    <a:pt x="837656" y="10890"/>
                    <a:pt x="857041" y="30276"/>
                  </a:cubicBezTo>
                  <a:cubicBezTo>
                    <a:pt x="876427" y="49661"/>
                    <a:pt x="887317" y="75953"/>
                    <a:pt x="887317" y="103367"/>
                  </a:cubicBezTo>
                  <a:lnTo>
                    <a:pt x="887317" y="103367"/>
                  </a:lnTo>
                  <a:cubicBezTo>
                    <a:pt x="887317" y="130782"/>
                    <a:pt x="876427" y="157074"/>
                    <a:pt x="857041" y="176459"/>
                  </a:cubicBezTo>
                  <a:cubicBezTo>
                    <a:pt x="837656" y="195844"/>
                    <a:pt x="811364" y="206735"/>
                    <a:pt x="783950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887317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99867" y="6362700"/>
            <a:ext cx="1892133" cy="784945"/>
            <a:chOff x="0" y="0"/>
            <a:chExt cx="498340" cy="20673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98340" cy="206735"/>
            </a:xfrm>
            <a:custGeom>
              <a:avLst/>
              <a:gdLst/>
              <a:ahLst/>
              <a:cxnLst/>
              <a:rect l="l" t="t" r="r" b="b"/>
              <a:pathLst>
                <a:path w="498340" h="206735">
                  <a:moveTo>
                    <a:pt x="103367" y="0"/>
                  </a:moveTo>
                  <a:lnTo>
                    <a:pt x="394972" y="0"/>
                  </a:lnTo>
                  <a:cubicBezTo>
                    <a:pt x="422387" y="0"/>
                    <a:pt x="448679" y="10890"/>
                    <a:pt x="468064" y="30276"/>
                  </a:cubicBezTo>
                  <a:cubicBezTo>
                    <a:pt x="487449" y="49661"/>
                    <a:pt x="498340" y="75953"/>
                    <a:pt x="498340" y="103367"/>
                  </a:cubicBezTo>
                  <a:lnTo>
                    <a:pt x="498340" y="103367"/>
                  </a:lnTo>
                  <a:cubicBezTo>
                    <a:pt x="498340" y="130782"/>
                    <a:pt x="487449" y="157074"/>
                    <a:pt x="468064" y="176459"/>
                  </a:cubicBezTo>
                  <a:cubicBezTo>
                    <a:pt x="448679" y="195844"/>
                    <a:pt x="422387" y="206735"/>
                    <a:pt x="394972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49834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24631" y="6634742"/>
            <a:ext cx="240861" cy="240861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24631" y="7687575"/>
            <a:ext cx="240861" cy="240861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43069" y="7687575"/>
            <a:ext cx="240861" cy="240861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81937" y="7687575"/>
            <a:ext cx="240861" cy="240861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43069" y="6634742"/>
            <a:ext cx="240861" cy="240861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60066" y="6634742"/>
            <a:ext cx="240861" cy="24086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595798" y="6634742"/>
            <a:ext cx="240861" cy="240861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3979830" y="1072430"/>
            <a:ext cx="3279470" cy="784945"/>
            <a:chOff x="0" y="0"/>
            <a:chExt cx="863729" cy="2067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63729" cy="206735"/>
            </a:xfrm>
            <a:custGeom>
              <a:avLst/>
              <a:gdLst/>
              <a:ahLst/>
              <a:cxnLst/>
              <a:rect l="l" t="t" r="r" b="b"/>
              <a:pathLst>
                <a:path w="863729" h="206735">
                  <a:moveTo>
                    <a:pt x="103367" y="0"/>
                  </a:moveTo>
                  <a:lnTo>
                    <a:pt x="760362" y="0"/>
                  </a:lnTo>
                  <a:cubicBezTo>
                    <a:pt x="787776" y="0"/>
                    <a:pt x="814068" y="10890"/>
                    <a:pt x="833453" y="30276"/>
                  </a:cubicBezTo>
                  <a:cubicBezTo>
                    <a:pt x="852838" y="49661"/>
                    <a:pt x="863729" y="75953"/>
                    <a:pt x="863729" y="103367"/>
                  </a:cubicBezTo>
                  <a:lnTo>
                    <a:pt x="863729" y="103367"/>
                  </a:lnTo>
                  <a:cubicBezTo>
                    <a:pt x="863729" y="130782"/>
                    <a:pt x="852838" y="157074"/>
                    <a:pt x="833453" y="176459"/>
                  </a:cubicBezTo>
                  <a:cubicBezTo>
                    <a:pt x="814068" y="195844"/>
                    <a:pt x="787776" y="206735"/>
                    <a:pt x="760362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863729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275761" y="1344472"/>
            <a:ext cx="240861" cy="240861"/>
            <a:chOff x="0" y="0"/>
            <a:chExt cx="812800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28700" y="3007302"/>
            <a:ext cx="10480051" cy="1783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560"/>
              </a:lnSpc>
            </a:pPr>
            <a:r>
              <a:rPr lang="en-US" sz="10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Agenda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30787" y="6548480"/>
            <a:ext cx="1988738" cy="34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 dirty="0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Hook + problem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30787" y="7415576"/>
            <a:ext cx="2149651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Future improvements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049225" y="7601313"/>
            <a:ext cx="2270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Results &amp; team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388093" y="7601313"/>
            <a:ext cx="164507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CTA/ closing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049225" y="6548480"/>
            <a:ext cx="1348210" cy="34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Solution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466222" y="6548480"/>
            <a:ext cx="256694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 spc="-63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UVP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101954" y="6527334"/>
            <a:ext cx="1090046" cy="503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2"/>
              </a:lnSpc>
            </a:pPr>
            <a:r>
              <a:rPr lang="en-US" sz="2100" spc="-63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Businessmodel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576362" y="1258210"/>
            <a:ext cx="225431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Presentation 2025</a:t>
            </a:r>
          </a:p>
        </p:txBody>
      </p:sp>
      <p:sp>
        <p:nvSpPr>
          <p:cNvPr id="61" name="Freeform 61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62" name="TextBox 62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88098" y="1153308"/>
            <a:ext cx="1973653" cy="784945"/>
            <a:chOff x="0" y="0"/>
            <a:chExt cx="519810" cy="2067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226899" y="1339088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625477" y="1425350"/>
            <a:ext cx="240861" cy="240861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31151" y="2521817"/>
            <a:ext cx="6462712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Hook + Problem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1151" y="5633778"/>
            <a:ext cx="11718761" cy="196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400" b="1" dirty="0">
                <a:solidFill>
                  <a:schemeClr val="bg1"/>
                </a:solidFill>
              </a:rPr>
              <a:t>People want to eat something new, but get lost in endless lists, reviews, and delivery apps.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Lack of visual inspiration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Hard to discover local hidden gems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Cooking at home takes time because you need to search for recipes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No platform that combines the best of dining out and cooking at home</a:t>
            </a:r>
            <a:endParaRPr lang="en-US" sz="2199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254166" y="-38100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1031151" y="9032473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5527" y="1230429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646271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Solution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58316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Freeform 11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5548134" y="7568151"/>
            <a:ext cx="9783298" cy="2470283"/>
          </a:xfrm>
          <a:custGeom>
            <a:avLst/>
            <a:gdLst/>
            <a:ahLst/>
            <a:cxnLst/>
            <a:rect l="l" t="t" r="r" b="b"/>
            <a:pathLst>
              <a:path w="9783298" h="2470283">
                <a:moveTo>
                  <a:pt x="0" y="0"/>
                </a:moveTo>
                <a:lnTo>
                  <a:pt x="9783298" y="0"/>
                </a:lnTo>
                <a:lnTo>
                  <a:pt x="9783298" y="2470283"/>
                </a:lnTo>
                <a:lnTo>
                  <a:pt x="0" y="2470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Freeform 13"/>
          <p:cNvSpPr/>
          <p:nvPr/>
        </p:nvSpPr>
        <p:spPr>
          <a:xfrm>
            <a:off x="7209577" y="735321"/>
            <a:ext cx="8014871" cy="4408179"/>
          </a:xfrm>
          <a:custGeom>
            <a:avLst/>
            <a:gdLst/>
            <a:ahLst/>
            <a:cxnLst/>
            <a:rect l="l" t="t" r="r" b="b"/>
            <a:pathLst>
              <a:path w="8014871" h="4408179">
                <a:moveTo>
                  <a:pt x="0" y="0"/>
                </a:moveTo>
                <a:lnTo>
                  <a:pt x="8014871" y="0"/>
                </a:lnTo>
                <a:lnTo>
                  <a:pt x="8014871" y="4408179"/>
                </a:lnTo>
                <a:lnTo>
                  <a:pt x="0" y="44081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4" name="TextBox 14"/>
          <p:cNvSpPr txBox="1"/>
          <p:nvPr/>
        </p:nvSpPr>
        <p:spPr>
          <a:xfrm>
            <a:off x="2956568" y="5250021"/>
            <a:ext cx="12374865" cy="1967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400" b="1" dirty="0" err="1">
                <a:solidFill>
                  <a:schemeClr val="bg1"/>
                </a:solidFill>
              </a:rPr>
              <a:t>FoodSwipe</a:t>
            </a:r>
            <a:r>
              <a:rPr lang="en-US" sz="2400" b="1" dirty="0">
                <a:solidFill>
                  <a:schemeClr val="bg1"/>
                </a:solidFill>
              </a:rPr>
              <a:t>: the video-first app that makes discovering food super fast, fun, and personalized.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TikTok-style swipe feed with local food videos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Order, reserve, or save dishes instantly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AI cooking assistant that generates recipes based on your ingredients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Personalized AI recommendations based on your taste profile and location</a:t>
            </a:r>
            <a:endParaRPr lang="en-US" sz="2199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  <p:transition>
    <p:wipe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11095812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UVP (Unique Value Proposition)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7694" y="5995988"/>
            <a:ext cx="12072209" cy="316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400" b="1" dirty="0">
                <a:solidFill>
                  <a:schemeClr val="bg1"/>
                </a:solidFill>
              </a:rPr>
              <a:t>The only app in the world that combines restaurant discovery, delivery actions, and AI-powered cooking.</a:t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What makes </a:t>
            </a:r>
            <a:r>
              <a:rPr lang="en-US" sz="2400" b="1" dirty="0" err="1">
                <a:solidFill>
                  <a:schemeClr val="bg1"/>
                </a:solidFill>
              </a:rPr>
              <a:t>FoodSwipe</a:t>
            </a:r>
            <a:r>
              <a:rPr lang="en-US" sz="2400" b="1" dirty="0">
                <a:solidFill>
                  <a:schemeClr val="bg1"/>
                </a:solidFill>
              </a:rPr>
              <a:t> unique?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Video-first</a:t>
            </a:r>
            <a:r>
              <a:rPr lang="en-US" sz="2400" dirty="0">
                <a:solidFill>
                  <a:schemeClr val="bg1"/>
                </a:solidFill>
              </a:rPr>
              <a:t> → higher conversion &amp; more inspiration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Hyperlocal discovery</a:t>
            </a:r>
            <a:r>
              <a:rPr lang="en-US" sz="2400" dirty="0">
                <a:solidFill>
                  <a:schemeClr val="bg1"/>
                </a:solidFill>
              </a:rPr>
              <a:t> → only relevant spots in your neighborhood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Instant actions</a:t>
            </a:r>
            <a:r>
              <a:rPr lang="en-US" sz="2400" dirty="0">
                <a:solidFill>
                  <a:schemeClr val="bg1"/>
                </a:solidFill>
              </a:rPr>
              <a:t> → order, reserve, or open the location directly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AI chef</a:t>
            </a:r>
            <a:r>
              <a:rPr lang="en-US" sz="2400" dirty="0">
                <a:solidFill>
                  <a:schemeClr val="bg1"/>
                </a:solidFill>
              </a:rPr>
              <a:t> → recipes generated from the ingredients in your fridge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</a:t>
            </a:r>
            <a:r>
              <a:rPr lang="en-US" sz="2400" b="1" dirty="0">
                <a:solidFill>
                  <a:schemeClr val="bg1"/>
                </a:solidFill>
              </a:rPr>
              <a:t>One platform for every “food mood”</a:t>
            </a:r>
            <a:r>
              <a:rPr lang="en-US" sz="2400" dirty="0">
                <a:solidFill>
                  <a:schemeClr val="bg1"/>
                </a:solidFill>
              </a:rPr>
              <a:t>: dining out, ordering in, or cooking at home</a:t>
            </a:r>
            <a:endParaRPr lang="en-US" sz="2199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33450" y="57173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1334637" y="9459256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422148" y="2670334"/>
            <a:ext cx="3604600" cy="7132320"/>
            <a:chOff x="0" y="0"/>
            <a:chExt cx="2620010" cy="5184140"/>
          </a:xfrm>
        </p:grpSpPr>
        <p:sp>
          <p:nvSpPr>
            <p:cNvPr id="15" name="Freeform 15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t="-1622" b="-1622"/>
              </a:stretch>
            </a:blipFill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  <p:transition>
    <p:wipe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11095812" cy="138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Businessmodel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67560" y="4663165"/>
            <a:ext cx="13075897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nl-NL" sz="2400" b="1" dirty="0">
                <a:solidFill>
                  <a:schemeClr val="bg1"/>
                </a:solidFill>
              </a:rPr>
              <a:t>Multiple </a:t>
            </a:r>
            <a:r>
              <a:rPr lang="nl-NL" sz="2400" b="1" dirty="0" err="1">
                <a:solidFill>
                  <a:schemeClr val="bg1"/>
                </a:solidFill>
              </a:rPr>
              <a:t>revenue</a:t>
            </a:r>
            <a:r>
              <a:rPr lang="nl-NL" sz="2400" b="1" dirty="0">
                <a:solidFill>
                  <a:schemeClr val="bg1"/>
                </a:solidFill>
              </a:rPr>
              <a:t> streams </a:t>
            </a:r>
            <a:r>
              <a:rPr lang="nl-NL" sz="2400" b="1" dirty="0" err="1">
                <a:solidFill>
                  <a:schemeClr val="bg1"/>
                </a:solidFill>
              </a:rPr>
              <a:t>ensure</a:t>
            </a:r>
            <a:r>
              <a:rPr lang="nl-NL" sz="2400" b="1" dirty="0">
                <a:solidFill>
                  <a:schemeClr val="bg1"/>
                </a:solidFill>
              </a:rPr>
              <a:t> </a:t>
            </a:r>
            <a:r>
              <a:rPr lang="nl-NL" sz="2400" b="1" dirty="0" err="1">
                <a:solidFill>
                  <a:schemeClr val="bg1"/>
                </a:solidFill>
              </a:rPr>
              <a:t>scalability</a:t>
            </a:r>
            <a:r>
              <a:rPr lang="nl-NL" sz="2400" b="1" dirty="0">
                <a:solidFill>
                  <a:schemeClr val="bg1"/>
                </a:solidFill>
              </a:rPr>
              <a:t> </a:t>
            </a:r>
            <a:r>
              <a:rPr lang="nl-NL" sz="2400" b="1" dirty="0" err="1">
                <a:solidFill>
                  <a:schemeClr val="bg1"/>
                </a:solidFill>
              </a:rPr>
              <a:t>and</a:t>
            </a:r>
            <a:r>
              <a:rPr lang="nl-NL" sz="2400" b="1" dirty="0">
                <a:solidFill>
                  <a:schemeClr val="bg1"/>
                </a:solidFill>
              </a:rPr>
              <a:t> </a:t>
            </a:r>
            <a:r>
              <a:rPr lang="nl-NL" sz="2400" b="1" dirty="0" err="1">
                <a:solidFill>
                  <a:schemeClr val="bg1"/>
                </a:solidFill>
              </a:rPr>
              <a:t>stability</a:t>
            </a:r>
            <a:r>
              <a:rPr lang="nl-NL" sz="2400" b="1" dirty="0">
                <a:solidFill>
                  <a:schemeClr val="bg1"/>
                </a:solidFill>
              </a:rPr>
              <a:t>.</a:t>
            </a:r>
            <a:endParaRPr lang="nl-NL" sz="2400" dirty="0">
              <a:solidFill>
                <a:schemeClr val="bg1"/>
              </a:solidFill>
            </a:endParaRPr>
          </a:p>
          <a:p>
            <a:r>
              <a:rPr lang="nl-NL" sz="2400" b="1" dirty="0">
                <a:solidFill>
                  <a:schemeClr val="bg1"/>
                </a:solidFill>
              </a:rPr>
              <a:t>Restaurant </a:t>
            </a:r>
            <a:r>
              <a:rPr lang="nl-NL" sz="2400" b="1" dirty="0" err="1">
                <a:solidFill>
                  <a:schemeClr val="bg1"/>
                </a:solidFill>
              </a:rPr>
              <a:t>Subscriptions</a:t>
            </a:r>
            <a:r>
              <a:rPr lang="nl-NL" sz="2400" b="1" dirty="0">
                <a:solidFill>
                  <a:schemeClr val="bg1"/>
                </a:solidFill>
              </a:rPr>
              <a:t> (B2B)</a:t>
            </a:r>
            <a:br>
              <a:rPr lang="nl-NL" sz="2400" dirty="0">
                <a:solidFill>
                  <a:schemeClr val="bg1"/>
                </a:solidFill>
              </a:rPr>
            </a:br>
            <a:r>
              <a:rPr lang="nl-NL" sz="2400" dirty="0">
                <a:solidFill>
                  <a:schemeClr val="bg1"/>
                </a:solidFill>
              </a:rPr>
              <a:t>• €12.50/</a:t>
            </a:r>
            <a:r>
              <a:rPr lang="nl-NL" sz="2400" dirty="0" err="1">
                <a:solidFill>
                  <a:schemeClr val="bg1"/>
                </a:solidFill>
              </a:rPr>
              <a:t>month</a:t>
            </a:r>
            <a:r>
              <a:rPr lang="nl-NL" sz="2400" dirty="0">
                <a:solidFill>
                  <a:schemeClr val="bg1"/>
                </a:solidFill>
              </a:rPr>
              <a:t> — </a:t>
            </a:r>
            <a:r>
              <a:rPr lang="nl-NL" sz="2400" dirty="0" err="1">
                <a:solidFill>
                  <a:schemeClr val="bg1"/>
                </a:solidFill>
              </a:rPr>
              <a:t>boosted</a:t>
            </a:r>
            <a:r>
              <a:rPr lang="nl-NL" sz="2400" dirty="0">
                <a:solidFill>
                  <a:schemeClr val="bg1"/>
                </a:solidFill>
              </a:rPr>
              <a:t> </a:t>
            </a:r>
            <a:r>
              <a:rPr lang="nl-NL" sz="2400" dirty="0" err="1">
                <a:solidFill>
                  <a:schemeClr val="bg1"/>
                </a:solidFill>
              </a:rPr>
              <a:t>visibility</a:t>
            </a:r>
            <a:r>
              <a:rPr lang="nl-NL" sz="2400" dirty="0">
                <a:solidFill>
                  <a:schemeClr val="bg1"/>
                </a:solidFill>
              </a:rPr>
              <a:t>, </a:t>
            </a:r>
            <a:r>
              <a:rPr lang="nl-NL" sz="2400" dirty="0" err="1">
                <a:solidFill>
                  <a:schemeClr val="bg1"/>
                </a:solidFill>
              </a:rPr>
              <a:t>analytics</a:t>
            </a:r>
            <a:r>
              <a:rPr lang="nl-NL" sz="2400" dirty="0">
                <a:solidFill>
                  <a:schemeClr val="bg1"/>
                </a:solidFill>
              </a:rPr>
              <a:t>, </a:t>
            </a:r>
            <a:r>
              <a:rPr lang="nl-NL" sz="2400" dirty="0" err="1">
                <a:solidFill>
                  <a:schemeClr val="bg1"/>
                </a:solidFill>
              </a:rPr>
              <a:t>featured</a:t>
            </a:r>
            <a:r>
              <a:rPr lang="nl-NL" sz="2400" dirty="0">
                <a:solidFill>
                  <a:schemeClr val="bg1"/>
                </a:solidFill>
              </a:rPr>
              <a:t> badge, </a:t>
            </a:r>
            <a:r>
              <a:rPr lang="nl-NL" sz="2400" dirty="0" err="1">
                <a:solidFill>
                  <a:schemeClr val="bg1"/>
                </a:solidFill>
              </a:rPr>
              <a:t>reservation</a:t>
            </a:r>
            <a:r>
              <a:rPr lang="nl-NL" sz="2400" dirty="0">
                <a:solidFill>
                  <a:schemeClr val="bg1"/>
                </a:solidFill>
              </a:rPr>
              <a:t> </a:t>
            </a:r>
            <a:r>
              <a:rPr lang="nl-NL" sz="2400" dirty="0" err="1">
                <a:solidFill>
                  <a:schemeClr val="bg1"/>
                </a:solidFill>
              </a:rPr>
              <a:t>integrations</a:t>
            </a:r>
            <a:endParaRPr lang="nl-NL" sz="2400" dirty="0">
              <a:solidFill>
                <a:schemeClr val="bg1"/>
              </a:solidFill>
            </a:endParaRPr>
          </a:p>
          <a:p>
            <a:r>
              <a:rPr lang="nl-NL" sz="2400" b="1" dirty="0" err="1">
                <a:solidFill>
                  <a:schemeClr val="bg1"/>
                </a:solidFill>
              </a:rPr>
              <a:t>Commissions</a:t>
            </a:r>
            <a:br>
              <a:rPr lang="nl-NL" sz="2400" dirty="0">
                <a:solidFill>
                  <a:schemeClr val="bg1"/>
                </a:solidFill>
              </a:rPr>
            </a:br>
            <a:r>
              <a:rPr lang="nl-NL" sz="2400" dirty="0">
                <a:solidFill>
                  <a:schemeClr val="bg1"/>
                </a:solidFill>
              </a:rPr>
              <a:t>• Via Thuisbezorgd/</a:t>
            </a:r>
            <a:r>
              <a:rPr lang="nl-NL" sz="2400" dirty="0" err="1">
                <a:solidFill>
                  <a:schemeClr val="bg1"/>
                </a:solidFill>
              </a:rPr>
              <a:t>UberEats</a:t>
            </a:r>
            <a:r>
              <a:rPr lang="nl-NL" sz="2400" dirty="0">
                <a:solidFill>
                  <a:schemeClr val="bg1"/>
                </a:solidFill>
              </a:rPr>
              <a:t>/</a:t>
            </a:r>
            <a:r>
              <a:rPr lang="nl-NL" sz="2400" dirty="0" err="1">
                <a:solidFill>
                  <a:schemeClr val="bg1"/>
                </a:solidFill>
              </a:rPr>
              <a:t>Resengo</a:t>
            </a:r>
            <a:r>
              <a:rPr lang="nl-NL" sz="2400" dirty="0">
                <a:solidFill>
                  <a:schemeClr val="bg1"/>
                </a:solidFill>
              </a:rPr>
              <a:t> (orders &amp; </a:t>
            </a:r>
            <a:r>
              <a:rPr lang="nl-NL" sz="2400" dirty="0" err="1">
                <a:solidFill>
                  <a:schemeClr val="bg1"/>
                </a:solidFill>
              </a:rPr>
              <a:t>reservations</a:t>
            </a:r>
            <a:r>
              <a:rPr lang="nl-NL" sz="2400" dirty="0">
                <a:solidFill>
                  <a:schemeClr val="bg1"/>
                </a:solidFill>
              </a:rPr>
              <a:t>)</a:t>
            </a:r>
          </a:p>
          <a:p>
            <a:r>
              <a:rPr lang="nl-NL" sz="2400" b="1" dirty="0">
                <a:solidFill>
                  <a:schemeClr val="bg1"/>
                </a:solidFill>
              </a:rPr>
              <a:t>User Premiums (€2.99/</a:t>
            </a:r>
            <a:r>
              <a:rPr lang="nl-NL" sz="2400" b="1" dirty="0" err="1">
                <a:solidFill>
                  <a:schemeClr val="bg1"/>
                </a:solidFill>
              </a:rPr>
              <a:t>month</a:t>
            </a:r>
            <a:r>
              <a:rPr lang="nl-NL" sz="2400" b="1" dirty="0">
                <a:solidFill>
                  <a:schemeClr val="bg1"/>
                </a:solidFill>
              </a:rPr>
              <a:t>)</a:t>
            </a:r>
            <a:br>
              <a:rPr lang="nl-NL" sz="2400" dirty="0">
                <a:solidFill>
                  <a:schemeClr val="bg1"/>
                </a:solidFill>
              </a:rPr>
            </a:br>
            <a:r>
              <a:rPr lang="nl-NL" sz="2400" dirty="0">
                <a:solidFill>
                  <a:schemeClr val="bg1"/>
                </a:solidFill>
              </a:rPr>
              <a:t>• Extra filters, AI coach, premium </a:t>
            </a:r>
            <a:r>
              <a:rPr lang="nl-NL" sz="2400" dirty="0" err="1">
                <a:solidFill>
                  <a:schemeClr val="bg1"/>
                </a:solidFill>
              </a:rPr>
              <a:t>recipes</a:t>
            </a:r>
            <a:r>
              <a:rPr lang="nl-NL" sz="2400" dirty="0">
                <a:solidFill>
                  <a:schemeClr val="bg1"/>
                </a:solidFill>
              </a:rPr>
              <a:t>, ad-free </a:t>
            </a:r>
            <a:r>
              <a:rPr lang="nl-NL" sz="2400" dirty="0" err="1">
                <a:solidFill>
                  <a:schemeClr val="bg1"/>
                </a:solidFill>
              </a:rPr>
              <a:t>experience</a:t>
            </a:r>
            <a:endParaRPr lang="nl-NL" sz="2400" dirty="0">
              <a:solidFill>
                <a:schemeClr val="bg1"/>
              </a:solidFill>
            </a:endParaRPr>
          </a:p>
          <a:p>
            <a:r>
              <a:rPr lang="nl-NL" sz="2400" b="1" dirty="0" err="1">
                <a:solidFill>
                  <a:schemeClr val="bg1"/>
                </a:solidFill>
              </a:rPr>
              <a:t>Influencer</a:t>
            </a:r>
            <a:r>
              <a:rPr lang="nl-NL" sz="2400" b="1" dirty="0">
                <a:solidFill>
                  <a:schemeClr val="bg1"/>
                </a:solidFill>
              </a:rPr>
              <a:t> Partnerships</a:t>
            </a:r>
            <a:br>
              <a:rPr lang="nl-NL" sz="2400" dirty="0">
                <a:solidFill>
                  <a:schemeClr val="bg1"/>
                </a:solidFill>
              </a:rPr>
            </a:br>
            <a:r>
              <a:rPr lang="nl-NL" sz="2400" dirty="0">
                <a:solidFill>
                  <a:schemeClr val="bg1"/>
                </a:solidFill>
              </a:rPr>
              <a:t>• </a:t>
            </a:r>
            <a:r>
              <a:rPr lang="nl-NL" sz="2400" dirty="0" err="1">
                <a:solidFill>
                  <a:schemeClr val="bg1"/>
                </a:solidFill>
              </a:rPr>
              <a:t>Branded</a:t>
            </a:r>
            <a:r>
              <a:rPr lang="nl-NL" sz="2400" dirty="0">
                <a:solidFill>
                  <a:schemeClr val="bg1"/>
                </a:solidFill>
              </a:rPr>
              <a:t> content &amp; </a:t>
            </a:r>
            <a:r>
              <a:rPr lang="nl-NL" sz="2400" dirty="0" err="1">
                <a:solidFill>
                  <a:schemeClr val="bg1"/>
                </a:solidFill>
              </a:rPr>
              <a:t>affiliate</a:t>
            </a:r>
            <a:r>
              <a:rPr lang="nl-NL" sz="2400" dirty="0">
                <a:solidFill>
                  <a:schemeClr val="bg1"/>
                </a:solidFill>
              </a:rPr>
              <a:t> deals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58316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11095812" cy="2702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Future Improvements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42094" y="5601272"/>
            <a:ext cx="13075897" cy="2215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nl-NL" b="1" dirty="0">
                <a:solidFill>
                  <a:schemeClr val="bg1"/>
                </a:solidFill>
              </a:rPr>
              <a:t>1. Camera </a:t>
            </a:r>
            <a:r>
              <a:rPr lang="nl-NL" b="1" dirty="0" err="1">
                <a:solidFill>
                  <a:schemeClr val="bg1"/>
                </a:solidFill>
              </a:rPr>
              <a:t>ingredient</a:t>
            </a:r>
            <a:r>
              <a:rPr lang="nl-NL" b="1" dirty="0">
                <a:solidFill>
                  <a:schemeClr val="bg1"/>
                </a:solidFill>
              </a:rPr>
              <a:t> </a:t>
            </a:r>
            <a:r>
              <a:rPr lang="nl-NL" b="1" dirty="0" err="1">
                <a:solidFill>
                  <a:schemeClr val="bg1"/>
                </a:solidFill>
              </a:rPr>
              <a:t>recognition</a:t>
            </a:r>
            <a:br>
              <a:rPr lang="nl-NL" dirty="0">
                <a:solidFill>
                  <a:schemeClr val="bg1"/>
                </a:solidFill>
              </a:rPr>
            </a:br>
            <a:r>
              <a:rPr lang="nl-NL" dirty="0">
                <a:solidFill>
                  <a:schemeClr val="bg1"/>
                </a:solidFill>
              </a:rPr>
              <a:t>“</a:t>
            </a:r>
            <a:r>
              <a:rPr lang="nl-NL" dirty="0" err="1">
                <a:solidFill>
                  <a:schemeClr val="bg1"/>
                </a:solidFill>
              </a:rPr>
              <a:t>Soon</a:t>
            </a:r>
            <a:r>
              <a:rPr lang="nl-NL" dirty="0">
                <a:solidFill>
                  <a:schemeClr val="bg1"/>
                </a:solidFill>
              </a:rPr>
              <a:t>, </a:t>
            </a:r>
            <a:r>
              <a:rPr lang="nl-NL" dirty="0" err="1">
                <a:solidFill>
                  <a:schemeClr val="bg1"/>
                </a:solidFill>
              </a:rPr>
              <a:t>you’ll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be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able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to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recognize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ingredients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just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by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using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your</a:t>
            </a:r>
            <a:r>
              <a:rPr lang="nl-NL" dirty="0">
                <a:solidFill>
                  <a:schemeClr val="bg1"/>
                </a:solidFill>
              </a:rPr>
              <a:t> camera.”</a:t>
            </a:r>
          </a:p>
          <a:p>
            <a:r>
              <a:rPr lang="nl-NL" b="1" dirty="0">
                <a:solidFill>
                  <a:schemeClr val="bg1"/>
                </a:solidFill>
              </a:rPr>
              <a:t>2. Supermarket </a:t>
            </a:r>
            <a:r>
              <a:rPr lang="nl-NL" b="1" dirty="0" err="1">
                <a:solidFill>
                  <a:schemeClr val="bg1"/>
                </a:solidFill>
              </a:rPr>
              <a:t>integration</a:t>
            </a:r>
            <a:br>
              <a:rPr lang="nl-NL" dirty="0">
                <a:solidFill>
                  <a:schemeClr val="bg1"/>
                </a:solidFill>
              </a:rPr>
            </a:br>
            <a:r>
              <a:rPr lang="nl-NL" dirty="0">
                <a:solidFill>
                  <a:schemeClr val="bg1"/>
                </a:solidFill>
              </a:rPr>
              <a:t>“</a:t>
            </a:r>
            <a:r>
              <a:rPr lang="nl-NL" dirty="0" err="1">
                <a:solidFill>
                  <a:schemeClr val="bg1"/>
                </a:solidFill>
              </a:rPr>
              <a:t>Add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ingredients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directly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to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your</a:t>
            </a:r>
            <a:r>
              <a:rPr lang="nl-NL" dirty="0">
                <a:solidFill>
                  <a:schemeClr val="bg1"/>
                </a:solidFill>
              </a:rPr>
              <a:t> supermarket cart.”</a:t>
            </a:r>
          </a:p>
          <a:p>
            <a:r>
              <a:rPr lang="nl-NL" b="1" dirty="0">
                <a:solidFill>
                  <a:schemeClr val="bg1"/>
                </a:solidFill>
              </a:rPr>
              <a:t>3. Direct Thuisbezorgd ordering</a:t>
            </a:r>
            <a:br>
              <a:rPr lang="nl-NL" dirty="0">
                <a:solidFill>
                  <a:schemeClr val="bg1"/>
                </a:solidFill>
              </a:rPr>
            </a:br>
            <a:r>
              <a:rPr lang="nl-NL" dirty="0">
                <a:solidFill>
                  <a:schemeClr val="bg1"/>
                </a:solidFill>
              </a:rPr>
              <a:t>“Ordering via Thuisbezorgd </a:t>
            </a:r>
            <a:r>
              <a:rPr lang="nl-NL" dirty="0" err="1">
                <a:solidFill>
                  <a:schemeClr val="bg1"/>
                </a:solidFill>
              </a:rPr>
              <a:t>will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soon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be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possible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directly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inside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FoodSwipe</a:t>
            </a:r>
            <a:r>
              <a:rPr lang="nl-NL" dirty="0">
                <a:solidFill>
                  <a:schemeClr val="bg1"/>
                </a:solidFill>
              </a:rPr>
              <a:t>.”</a:t>
            </a:r>
          </a:p>
          <a:p>
            <a:r>
              <a:rPr lang="nl-NL" b="1" dirty="0">
                <a:solidFill>
                  <a:schemeClr val="bg1"/>
                </a:solidFill>
              </a:rPr>
              <a:t>4. Video upload → AI </a:t>
            </a:r>
            <a:r>
              <a:rPr lang="nl-NL" b="1" dirty="0" err="1">
                <a:solidFill>
                  <a:schemeClr val="bg1"/>
                </a:solidFill>
              </a:rPr>
              <a:t>generates</a:t>
            </a:r>
            <a:r>
              <a:rPr lang="nl-NL" b="1" dirty="0">
                <a:solidFill>
                  <a:schemeClr val="bg1"/>
                </a:solidFill>
              </a:rPr>
              <a:t> </a:t>
            </a:r>
            <a:r>
              <a:rPr lang="nl-NL" b="1" dirty="0" err="1">
                <a:solidFill>
                  <a:schemeClr val="bg1"/>
                </a:solidFill>
              </a:rPr>
              <a:t>recipe</a:t>
            </a:r>
            <a:br>
              <a:rPr lang="nl-NL" dirty="0">
                <a:solidFill>
                  <a:schemeClr val="bg1"/>
                </a:solidFill>
              </a:rPr>
            </a:br>
            <a:r>
              <a:rPr lang="nl-NL" dirty="0">
                <a:solidFill>
                  <a:schemeClr val="bg1"/>
                </a:solidFill>
              </a:rPr>
              <a:t>“Upload a </a:t>
            </a:r>
            <a:r>
              <a:rPr lang="nl-NL" dirty="0" err="1">
                <a:solidFill>
                  <a:schemeClr val="bg1"/>
                </a:solidFill>
              </a:rPr>
              <a:t>cooking</a:t>
            </a:r>
            <a:r>
              <a:rPr lang="nl-NL" dirty="0">
                <a:solidFill>
                  <a:schemeClr val="bg1"/>
                </a:solidFill>
              </a:rPr>
              <a:t> video…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our</a:t>
            </a:r>
            <a:r>
              <a:rPr lang="nl-NL" dirty="0">
                <a:solidFill>
                  <a:schemeClr val="bg1"/>
                </a:solidFill>
              </a:rPr>
              <a:t> AI </a:t>
            </a:r>
            <a:r>
              <a:rPr lang="nl-NL" dirty="0" err="1">
                <a:solidFill>
                  <a:schemeClr val="bg1"/>
                </a:solidFill>
              </a:rPr>
              <a:t>instantly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creates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the</a:t>
            </a:r>
            <a:r>
              <a:rPr lang="nl-NL" dirty="0">
                <a:solidFill>
                  <a:schemeClr val="bg1"/>
                </a:solidFill>
              </a:rPr>
              <a:t> full </a:t>
            </a:r>
            <a:r>
              <a:rPr lang="nl-NL" dirty="0" err="1">
                <a:solidFill>
                  <a:schemeClr val="bg1"/>
                </a:solidFill>
              </a:rPr>
              <a:t>recipe</a:t>
            </a:r>
            <a:r>
              <a:rPr lang="nl-NL" dirty="0">
                <a:solidFill>
                  <a:schemeClr val="bg1"/>
                </a:solidFill>
              </a:rPr>
              <a:t>.”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58316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11095812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 dirty="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Results &amp;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48551" y="4489767"/>
            <a:ext cx="13075897" cy="157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en-US" sz="2400" b="1" dirty="0">
                <a:solidFill>
                  <a:schemeClr val="bg1"/>
                </a:solidFill>
              </a:rPr>
              <a:t>Traction potential (projections from your plan):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In 1 city within 6 months: €12,000–€15,000 revenue per month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Strong network effects driven by food creators and restaurants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Video-first content leads to higher engagement</a:t>
            </a:r>
            <a:endParaRPr lang="en-US" sz="2199" dirty="0">
              <a:solidFill>
                <a:schemeClr val="bg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58316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2" name="Freeform 12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3" name="TextBox 13"/>
          <p:cNvSpPr txBox="1"/>
          <p:nvPr/>
        </p:nvSpPr>
        <p:spPr>
          <a:xfrm>
            <a:off x="2148551" y="6920427"/>
            <a:ext cx="13075897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Team: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Visionary product team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• Strong expertise in AI, mobile development, and integrations (n8n, APIs)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1550" y="2570205"/>
            <a:ext cx="11095812" cy="138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104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CTA / Closing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285647" y="1072430"/>
            <a:ext cx="1973653" cy="784945"/>
            <a:chOff x="0" y="0"/>
            <a:chExt cx="519810" cy="2067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9810" cy="206735"/>
            </a:xfrm>
            <a:custGeom>
              <a:avLst/>
              <a:gdLst/>
              <a:ahLst/>
              <a:cxnLst/>
              <a:rect l="l" t="t" r="r" b="b"/>
              <a:pathLst>
                <a:path w="519810" h="206735">
                  <a:moveTo>
                    <a:pt x="103367" y="0"/>
                  </a:moveTo>
                  <a:lnTo>
                    <a:pt x="416443" y="0"/>
                  </a:lnTo>
                  <a:cubicBezTo>
                    <a:pt x="443857" y="0"/>
                    <a:pt x="470149" y="10890"/>
                    <a:pt x="489534" y="30276"/>
                  </a:cubicBezTo>
                  <a:cubicBezTo>
                    <a:pt x="508919" y="49661"/>
                    <a:pt x="519810" y="75953"/>
                    <a:pt x="519810" y="103367"/>
                  </a:cubicBezTo>
                  <a:lnTo>
                    <a:pt x="519810" y="103367"/>
                  </a:lnTo>
                  <a:cubicBezTo>
                    <a:pt x="519810" y="130782"/>
                    <a:pt x="508919" y="157074"/>
                    <a:pt x="489534" y="176459"/>
                  </a:cubicBezTo>
                  <a:cubicBezTo>
                    <a:pt x="470149" y="195844"/>
                    <a:pt x="443857" y="206735"/>
                    <a:pt x="416443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19810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224448" y="1258210"/>
            <a:ext cx="1663377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Page 7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623026" y="1344472"/>
            <a:ext cx="240861" cy="24086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028700" y="5831681"/>
            <a:ext cx="404812" cy="404812"/>
          </a:xfrm>
          <a:custGeom>
            <a:avLst/>
            <a:gdLst/>
            <a:ahLst/>
            <a:cxnLst/>
            <a:rect l="l" t="t" r="r" b="b"/>
            <a:pathLst>
              <a:path w="404812" h="404812">
                <a:moveTo>
                  <a:pt x="0" y="0"/>
                </a:moveTo>
                <a:lnTo>
                  <a:pt x="404812" y="0"/>
                </a:lnTo>
                <a:lnTo>
                  <a:pt x="404812" y="404813"/>
                </a:lnTo>
                <a:lnTo>
                  <a:pt x="0" y="40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1" name="TextBox 11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  <p:sp>
        <p:nvSpPr>
          <p:cNvPr id="12" name="Freeform 12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422148" y="2670334"/>
            <a:ext cx="3604600" cy="7132320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t="-309" b="-309"/>
              </a:stretch>
            </a:blipFill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148551" y="4663165"/>
            <a:ext cx="13075897" cy="115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FoodSwipe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wordt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de super-app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voor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alles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rondom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eten.</a:t>
            </a: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Van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viral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foodvideo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→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naar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direct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bestellen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reserveren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zelf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koken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met AI.</a:t>
            </a:r>
          </a:p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Wij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bouwen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hét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platform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miljoenen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dagelijkse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eetkeuzes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makkelijker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199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maakt</a:t>
            </a:r>
            <a:r>
              <a:rPr lang="en-US" sz="2199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8951595"/>
            <a:ext cx="3671887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Pitch Presention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519681">
            <a:off x="3188019" y="1639540"/>
            <a:ext cx="18571789" cy="9525780"/>
          </a:xfrm>
          <a:custGeom>
            <a:avLst/>
            <a:gdLst/>
            <a:ahLst/>
            <a:cxnLst/>
            <a:rect l="l" t="t" r="r" b="b"/>
            <a:pathLst>
              <a:path w="18571789" h="9525780">
                <a:moveTo>
                  <a:pt x="0" y="0"/>
                </a:moveTo>
                <a:lnTo>
                  <a:pt x="18571789" y="0"/>
                </a:lnTo>
                <a:lnTo>
                  <a:pt x="18571789" y="9525780"/>
                </a:lnTo>
                <a:lnTo>
                  <a:pt x="0" y="952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3" name="Freeform 3"/>
          <p:cNvSpPr/>
          <p:nvPr/>
        </p:nvSpPr>
        <p:spPr>
          <a:xfrm rot="-207148">
            <a:off x="-3892166" y="-4762890"/>
            <a:ext cx="18571789" cy="9525780"/>
          </a:xfrm>
          <a:custGeom>
            <a:avLst/>
            <a:gdLst/>
            <a:ahLst/>
            <a:cxnLst/>
            <a:rect l="l" t="t" r="r" b="b"/>
            <a:pathLst>
              <a:path w="18571789" h="9525780">
                <a:moveTo>
                  <a:pt x="0" y="0"/>
                </a:moveTo>
                <a:lnTo>
                  <a:pt x="18571789" y="0"/>
                </a:lnTo>
                <a:lnTo>
                  <a:pt x="18571789" y="9525780"/>
                </a:lnTo>
                <a:lnTo>
                  <a:pt x="0" y="952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grpSp>
        <p:nvGrpSpPr>
          <p:cNvPr id="4" name="Group 4"/>
          <p:cNvGrpSpPr/>
          <p:nvPr/>
        </p:nvGrpSpPr>
        <p:grpSpPr>
          <a:xfrm>
            <a:off x="14275761" y="8745397"/>
            <a:ext cx="240861" cy="240861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96588" y="7962900"/>
            <a:ext cx="6462712" cy="1295401"/>
            <a:chOff x="0" y="0"/>
            <a:chExt cx="863729" cy="2067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3729" cy="206735"/>
            </a:xfrm>
            <a:custGeom>
              <a:avLst/>
              <a:gdLst/>
              <a:ahLst/>
              <a:cxnLst/>
              <a:rect l="l" t="t" r="r" b="b"/>
              <a:pathLst>
                <a:path w="863729" h="206735">
                  <a:moveTo>
                    <a:pt x="103367" y="0"/>
                  </a:moveTo>
                  <a:lnTo>
                    <a:pt x="760362" y="0"/>
                  </a:lnTo>
                  <a:cubicBezTo>
                    <a:pt x="787776" y="0"/>
                    <a:pt x="814068" y="10890"/>
                    <a:pt x="833453" y="30276"/>
                  </a:cubicBezTo>
                  <a:cubicBezTo>
                    <a:pt x="852838" y="49661"/>
                    <a:pt x="863729" y="75953"/>
                    <a:pt x="863729" y="103367"/>
                  </a:cubicBezTo>
                  <a:lnTo>
                    <a:pt x="863729" y="103367"/>
                  </a:lnTo>
                  <a:cubicBezTo>
                    <a:pt x="863729" y="130782"/>
                    <a:pt x="852838" y="157074"/>
                    <a:pt x="833453" y="176459"/>
                  </a:cubicBezTo>
                  <a:cubicBezTo>
                    <a:pt x="814068" y="195844"/>
                    <a:pt x="787776" y="206735"/>
                    <a:pt x="760362" y="206735"/>
                  </a:cubicBezTo>
                  <a:lnTo>
                    <a:pt x="103367" y="206735"/>
                  </a:lnTo>
                  <a:cubicBezTo>
                    <a:pt x="75953" y="206735"/>
                    <a:pt x="49661" y="195844"/>
                    <a:pt x="30276" y="176459"/>
                  </a:cubicBezTo>
                  <a:cubicBezTo>
                    <a:pt x="10890" y="157074"/>
                    <a:pt x="0" y="130782"/>
                    <a:pt x="0" y="103367"/>
                  </a:cubicBezTo>
                  <a:lnTo>
                    <a:pt x="0" y="103367"/>
                  </a:lnTo>
                  <a:cubicBezTo>
                    <a:pt x="0" y="75953"/>
                    <a:pt x="10890" y="49661"/>
                    <a:pt x="30276" y="30276"/>
                  </a:cubicBezTo>
                  <a:cubicBezTo>
                    <a:pt x="49661" y="10890"/>
                    <a:pt x="75953" y="0"/>
                    <a:pt x="103367" y="0"/>
                  </a:cubicBezTo>
                  <a:close/>
                </a:path>
              </a:pathLst>
            </a:custGeom>
            <a:solidFill>
              <a:srgbClr val="FF7166"/>
            </a:solidFill>
          </p:spPr>
          <p:txBody>
            <a:bodyPr/>
            <a:lstStyle/>
            <a:p>
              <a:endParaRPr lang="nl-N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63729" cy="2448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3046438"/>
            <a:ext cx="10480051" cy="450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96"/>
              </a:lnSpc>
            </a:pPr>
            <a:r>
              <a:rPr lang="en-US" sz="18996">
                <a:solidFill>
                  <a:srgbClr val="FFFFFF"/>
                </a:solidFill>
                <a:latin typeface="Neue Montreal"/>
                <a:ea typeface="Neue Montreal"/>
                <a:cs typeface="Neue Montreal"/>
                <a:sym typeface="Neue Montreal"/>
              </a:rPr>
              <a:t>Thank You!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796588" y="1028700"/>
            <a:ext cx="6462712" cy="646271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4545" r="-4545"/>
              </a:stretch>
            </a:blipFill>
          </p:spPr>
          <p:txBody>
            <a:bodyPr/>
            <a:lstStyle/>
            <a:p>
              <a:endParaRPr lang="nl-N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43076" y="1149551"/>
            <a:ext cx="3495749" cy="48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Foodswip</a:t>
            </a:r>
            <a:r>
              <a:rPr lang="en-US" sz="2799" b="1">
                <a:solidFill>
                  <a:srgbClr val="68DE68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</a:t>
            </a:r>
          </a:p>
        </p:txBody>
      </p:sp>
      <p:sp>
        <p:nvSpPr>
          <p:cNvPr id="17" name="Freeform 17"/>
          <p:cNvSpPr/>
          <p:nvPr/>
        </p:nvSpPr>
        <p:spPr>
          <a:xfrm>
            <a:off x="-256617" y="-118978"/>
            <a:ext cx="3408622" cy="3408622"/>
          </a:xfrm>
          <a:custGeom>
            <a:avLst/>
            <a:gdLst/>
            <a:ahLst/>
            <a:cxnLst/>
            <a:rect l="l" t="t" r="r" b="b"/>
            <a:pathLst>
              <a:path w="3408622" h="3408622">
                <a:moveTo>
                  <a:pt x="0" y="0"/>
                </a:moveTo>
                <a:lnTo>
                  <a:pt x="3408622" y="0"/>
                </a:lnTo>
                <a:lnTo>
                  <a:pt x="3408622" y="3408622"/>
                </a:lnTo>
                <a:lnTo>
                  <a:pt x="0" y="3408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nl-NL"/>
          </a:p>
        </p:txBody>
      </p:sp>
      <p:sp>
        <p:nvSpPr>
          <p:cNvPr id="18" name="TextBox 18"/>
          <p:cNvSpPr txBox="1"/>
          <p:nvPr/>
        </p:nvSpPr>
        <p:spPr>
          <a:xfrm>
            <a:off x="4648200" y="8682635"/>
            <a:ext cx="2620767" cy="30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endParaRPr lang="en-US" dirty="0">
              <a:sym typeface="Neue Montreal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796588" y="8610600"/>
            <a:ext cx="6462712" cy="454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D0D0D"/>
                </a:solidFill>
                <a:latin typeface="Neue Montreal"/>
                <a:ea typeface="Neue Montreal"/>
                <a:cs typeface="Neue Montreal"/>
                <a:sym typeface="Neue Montreal"/>
              </a:rPr>
              <a:t>Join the waitlist!</a:t>
            </a:r>
          </a:p>
        </p:txBody>
      </p:sp>
    </p:spTree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558</Words>
  <Application>Microsoft Macintosh PowerPoint</Application>
  <PresentationFormat>Aangepast</PresentationFormat>
  <Paragraphs>63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6" baseType="lpstr">
      <vt:lpstr>Arial</vt:lpstr>
      <vt:lpstr>Neue Montreal Bold</vt:lpstr>
      <vt:lpstr>Inter</vt:lpstr>
      <vt:lpstr>Calibri</vt:lpstr>
      <vt:lpstr>Neue Montreal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FoodSwipe</dc:title>
  <dc:creator>Wishant Bhajan</dc:creator>
  <cp:lastModifiedBy>Damian Willemse</cp:lastModifiedBy>
  <cp:revision>3</cp:revision>
  <dcterms:created xsi:type="dcterms:W3CDTF">2006-08-16T00:00:00Z</dcterms:created>
  <dcterms:modified xsi:type="dcterms:W3CDTF">2025-11-30T16:03:02Z</dcterms:modified>
  <dc:identifier>DAG6Lj_S7sQ</dc:identifier>
</cp:coreProperties>
</file>